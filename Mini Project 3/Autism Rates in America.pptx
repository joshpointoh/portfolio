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Average"/>
      <p:regular r:id="rId25"/>
    </p:embeddedFont>
    <p:embeddedFont>
      <p:font typeface="Oswa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swald-regular.fntdata"/><Relationship Id="rId25" Type="http://schemas.openxmlformats.org/officeDocument/2006/relationships/font" Target="fonts/Average-regular.fntdata"/><Relationship Id="rId27"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447438f3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447438f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c6f980f91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c6f980f9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447438f34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d447438f3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447438f34_0_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d447438f3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447438f34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447438f3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447438f34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447438f3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447438f34_0_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447438f3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447438f34_0_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447438f3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447438f34_0_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447438f3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447438f34_0_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d447438f3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447438f34_0_6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447438f3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447438f34_0_5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447438f3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447438f34_0_6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d447438f3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447438f34_0_9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447438f3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447438f34_0_7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447438f3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447438f34_0_8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447438f3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447438f34_0_9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447438f34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Autism Rates in America</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Joshua Place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Autism?</a:t>
            </a:r>
            <a:endParaRPr/>
          </a:p>
        </p:txBody>
      </p:sp>
      <p:sp>
        <p:nvSpPr>
          <p:cNvPr id="66" name="Google Shape;66;p14"/>
          <p:cNvSpPr txBox="1"/>
          <p:nvPr>
            <p:ph idx="1" type="body"/>
          </p:nvPr>
        </p:nvSpPr>
        <p:spPr>
          <a:xfrm>
            <a:off x="311700" y="1017725"/>
            <a:ext cx="8520600" cy="394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Autism Spectrum Disorder, or ASD, is a neurological condition that affects the way certain people communicate, interact, and think.  Because it is a spectrum, each autism case is unique in its own way and is usually diagnosed by how much support is needed.</a:t>
            </a:r>
            <a:endParaRPr sz="1600"/>
          </a:p>
          <a:p>
            <a:pPr indent="0" lvl="0" marL="0" rtl="0" algn="l">
              <a:spcBef>
                <a:spcPts val="1600"/>
              </a:spcBef>
              <a:spcAft>
                <a:spcPts val="0"/>
              </a:spcAft>
              <a:buNone/>
            </a:pPr>
            <a:r>
              <a:rPr lang="en" sz="1600"/>
              <a:t>Some common challenges that those on the autism spectrum face include:</a:t>
            </a:r>
            <a:endParaRPr sz="1600"/>
          </a:p>
          <a:p>
            <a:pPr indent="-330200" lvl="0" marL="457200" rtl="0" algn="l">
              <a:spcBef>
                <a:spcPts val="1600"/>
              </a:spcBef>
              <a:spcAft>
                <a:spcPts val="0"/>
              </a:spcAft>
              <a:buSzPts val="1600"/>
              <a:buChar char="-"/>
            </a:pPr>
            <a:r>
              <a:rPr lang="en" sz="1600"/>
              <a:t>Hypersensitivity or hyposensitivity to light, sound, smell, touch, etc.</a:t>
            </a:r>
            <a:endParaRPr sz="1600"/>
          </a:p>
          <a:p>
            <a:pPr indent="-330200" lvl="0" marL="457200" rtl="0" algn="l">
              <a:spcBef>
                <a:spcPts val="0"/>
              </a:spcBef>
              <a:spcAft>
                <a:spcPts val="0"/>
              </a:spcAft>
              <a:buSzPts val="1600"/>
              <a:buChar char="-"/>
            </a:pPr>
            <a:r>
              <a:rPr lang="en" sz="1600"/>
              <a:t>Difficulty with social </a:t>
            </a:r>
            <a:r>
              <a:rPr lang="en" sz="1600"/>
              <a:t>interactions</a:t>
            </a:r>
            <a:r>
              <a:rPr lang="en" sz="1600"/>
              <a:t> (i.e. reading social cues, maintaining eye contact, or understanding sarcasm)</a:t>
            </a:r>
            <a:endParaRPr sz="1600"/>
          </a:p>
          <a:p>
            <a:pPr indent="-330200" lvl="0" marL="457200" rtl="0" algn="l">
              <a:spcBef>
                <a:spcPts val="0"/>
              </a:spcBef>
              <a:spcAft>
                <a:spcPts val="0"/>
              </a:spcAft>
              <a:buSzPts val="1600"/>
              <a:buChar char="-"/>
            </a:pPr>
            <a:r>
              <a:rPr lang="en" sz="1600"/>
              <a:t>Inability to process changes to routines</a:t>
            </a:r>
            <a:endParaRPr sz="1600"/>
          </a:p>
          <a:p>
            <a:pPr indent="0" lvl="0" marL="0" rtl="0" algn="l">
              <a:spcBef>
                <a:spcPts val="1600"/>
              </a:spcBef>
              <a:spcAft>
                <a:spcPts val="1600"/>
              </a:spcAft>
              <a:buNone/>
            </a:pPr>
            <a:r>
              <a:rPr lang="en" sz="1600"/>
              <a:t>It’s important to remember that not everyone on the spectrum deal with these challenges (or they deal with them in different ways,) and each case must be studied individually in order to gain a better </a:t>
            </a:r>
            <a:r>
              <a:rPr lang="en" sz="1600"/>
              <a:t>understanding.</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Which begs the question…</a:t>
            </a:r>
            <a:endParaRPr/>
          </a:p>
        </p:txBody>
      </p:sp>
      <p:sp>
        <p:nvSpPr>
          <p:cNvPr id="72" name="Google Shape;72;p15"/>
          <p:cNvSpPr txBox="1"/>
          <p:nvPr>
            <p:ph idx="1" type="body"/>
          </p:nvPr>
        </p:nvSpPr>
        <p:spPr>
          <a:xfrm>
            <a:off x="311700" y="1132050"/>
            <a:ext cx="8520600" cy="382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Using gathered data of autism diagnoses in children from 2000 to 2022, how can we predict </a:t>
            </a:r>
            <a:r>
              <a:rPr lang="en" sz="3000"/>
              <a:t>how much the rate of future diagnoses will change in order to prepare special education programs at schools?</a:t>
            </a:r>
            <a:endParaRPr sz="3000"/>
          </a:p>
          <a:p>
            <a:pPr indent="0" lvl="0" marL="0" rtl="0" algn="ctr">
              <a:spcBef>
                <a:spcPts val="1600"/>
              </a:spcBef>
              <a:spcAft>
                <a:spcPts val="0"/>
              </a:spcAft>
              <a:buNone/>
            </a:pPr>
            <a:r>
              <a:rPr lang="en" sz="2000"/>
              <a:t>DISCLAIMER: The datasets used for this presentation are of reported cases of autism; due to underreporting, they may not accurately reflect a true accounting or a consistent sampling of true cases.</a:t>
            </a:r>
            <a:endParaRPr sz="2000"/>
          </a:p>
          <a:p>
            <a:pPr indent="0" lvl="0" marL="0" rtl="0" algn="ctr">
              <a:spcBef>
                <a:spcPts val="1600"/>
              </a:spcBef>
              <a:spcAft>
                <a:spcPts val="0"/>
              </a:spcAft>
              <a:buNone/>
            </a:pPr>
            <a:r>
              <a:t/>
            </a:r>
            <a:endParaRPr sz="3000"/>
          </a:p>
          <a:p>
            <a:pPr indent="0" lvl="0" marL="0" rtl="0" algn="ctr">
              <a:spcBef>
                <a:spcPts val="1600"/>
              </a:spcBef>
              <a:spcAft>
                <a:spcPts val="1600"/>
              </a:spcAft>
              <a:buNone/>
            </a:pPr>
            <a:r>
              <a:t/>
            </a:r>
            <a:endParaRPr sz="3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How can we approach this?</a:t>
            </a:r>
            <a:endParaRPr/>
          </a:p>
        </p:txBody>
      </p:sp>
      <p:sp>
        <p:nvSpPr>
          <p:cNvPr id="78" name="Google Shape;78;p1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First, we need to visualize how much autism diagnoses have changed from 2000 to 2022.</a:t>
            </a:r>
            <a:endParaRPr/>
          </a:p>
          <a:p>
            <a:pPr indent="-342900" lvl="0" marL="457200" rtl="0" algn="l">
              <a:spcBef>
                <a:spcPts val="0"/>
              </a:spcBef>
              <a:spcAft>
                <a:spcPts val="0"/>
              </a:spcAft>
              <a:buSzPts val="1800"/>
              <a:buChar char="●"/>
            </a:pPr>
            <a:r>
              <a:rPr lang="en"/>
              <a:t>We gathered a large dataset from the CDC website that details the rates of autism diagnoses in the United States.</a:t>
            </a:r>
            <a:endParaRPr/>
          </a:p>
          <a:p>
            <a:pPr indent="-342900" lvl="0" marL="457200" rtl="0" algn="l">
              <a:spcBef>
                <a:spcPts val="0"/>
              </a:spcBef>
              <a:spcAft>
                <a:spcPts val="0"/>
              </a:spcAft>
              <a:buSzPts val="1800"/>
              <a:buChar char="●"/>
            </a:pPr>
            <a:r>
              <a:rPr lang="en"/>
              <a:t>We then split the dataset into 52 individual datasets (all 50 states, including DC and Puerto Rico)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7" title="autism_trend_yearly.png"/>
          <p:cNvPicPr preferRelativeResize="0"/>
          <p:nvPr/>
        </p:nvPicPr>
        <p:blipFill>
          <a:blip r:embed="rId3">
            <a:alphaModFix/>
          </a:blip>
          <a:stretch>
            <a:fillRect/>
          </a:stretch>
        </p:blipFill>
        <p:spPr>
          <a:xfrm>
            <a:off x="539750" y="152400"/>
            <a:ext cx="8064500"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Causes for Autism</a:t>
            </a:r>
            <a:endParaRPr/>
          </a:p>
        </p:txBody>
      </p:sp>
      <p:sp>
        <p:nvSpPr>
          <p:cNvPr id="89" name="Google Shape;89;p18"/>
          <p:cNvSpPr txBox="1"/>
          <p:nvPr>
            <p:ph idx="1" type="body"/>
          </p:nvPr>
        </p:nvSpPr>
        <p:spPr>
          <a:xfrm>
            <a:off x="1073100" y="1408875"/>
            <a:ext cx="6997800" cy="30828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Autism rates have increased due to improved screening tests, diagnosis criteria, and an overall better understanding.</a:t>
            </a:r>
            <a:endParaRPr sz="2000"/>
          </a:p>
          <a:p>
            <a:pPr indent="-355600" lvl="0" marL="457200" rtl="0" algn="l">
              <a:spcBef>
                <a:spcPts val="0"/>
              </a:spcBef>
              <a:spcAft>
                <a:spcPts val="0"/>
              </a:spcAft>
              <a:buSzPts val="2000"/>
              <a:buChar char="●"/>
            </a:pPr>
            <a:r>
              <a:rPr lang="en" sz="2000"/>
              <a:t>No singular cause; an advanced </a:t>
            </a:r>
            <a:r>
              <a:rPr lang="en" sz="2000"/>
              <a:t>combination</a:t>
            </a:r>
            <a:r>
              <a:rPr lang="en" sz="2000"/>
              <a:t> of countless environmental, premetal, and most importantly, genetic factors</a:t>
            </a:r>
            <a:endParaRPr sz="2000"/>
          </a:p>
          <a:p>
            <a:pPr indent="-355600" lvl="1" marL="914400" rtl="0" algn="l">
              <a:spcBef>
                <a:spcPts val="0"/>
              </a:spcBef>
              <a:spcAft>
                <a:spcPts val="0"/>
              </a:spcAft>
              <a:buSzPts val="2000"/>
              <a:buChar char="○"/>
            </a:pPr>
            <a:r>
              <a:rPr lang="en" sz="1600"/>
              <a:t>T</a:t>
            </a:r>
            <a:r>
              <a:rPr lang="en" sz="1600"/>
              <a:t>hose who are on the spectrum are more likely to form connections with others on the spectrum than with those who are not.</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What’s next?</a:t>
            </a:r>
            <a:endParaRPr/>
          </a:p>
        </p:txBody>
      </p:sp>
      <p:sp>
        <p:nvSpPr>
          <p:cNvPr id="95" name="Google Shape;95;p1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Next, we split the dataset into 52 individual datasets (all 50 states, including DC and Puerto Rico)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20" title="autism_bar_chart_2022.png"/>
          <p:cNvPicPr preferRelativeResize="0"/>
          <p:nvPr/>
        </p:nvPicPr>
        <p:blipFill>
          <a:blip r:embed="rId3">
            <a:alphaModFix/>
          </a:blip>
          <a:stretch>
            <a:fillRect/>
          </a:stretch>
        </p:blipFill>
        <p:spPr>
          <a:xfrm>
            <a:off x="152400" y="214625"/>
            <a:ext cx="8839200" cy="47142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21" title="autism_heatmap_sorted_2022.png"/>
          <p:cNvPicPr preferRelativeResize="0"/>
          <p:nvPr/>
        </p:nvPicPr>
        <p:blipFill>
          <a:blip r:embed="rId3">
            <a:alphaModFix/>
          </a:blip>
          <a:stretch>
            <a:fillRect/>
          </a:stretch>
        </p:blipFill>
        <p:spPr>
          <a:xfrm>
            <a:off x="1749425" y="152400"/>
            <a:ext cx="5645150" cy="483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2" title="autism_trend_virginia.png"/>
          <p:cNvPicPr preferRelativeResize="0"/>
          <p:nvPr/>
        </p:nvPicPr>
        <p:blipFill>
          <a:blip r:embed="rId3">
            <a:alphaModFix/>
          </a:blip>
          <a:stretch>
            <a:fillRect/>
          </a:stretch>
        </p:blipFill>
        <p:spPr>
          <a:xfrm>
            <a:off x="539750" y="152400"/>
            <a:ext cx="8064500" cy="483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How can we use these findings?</a:t>
            </a:r>
            <a:endParaRPr/>
          </a:p>
        </p:txBody>
      </p:sp>
      <p:sp>
        <p:nvSpPr>
          <p:cNvPr id="116" name="Google Shape;116;p23"/>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Now, we can use regression to determine how much the rates of autism diagnoses in children will increase in the following years.</a:t>
            </a:r>
            <a:endParaRPr/>
          </a:p>
          <a:p>
            <a:pPr indent="-342900" lvl="0" marL="457200" rtl="0" algn="l">
              <a:spcBef>
                <a:spcPts val="0"/>
              </a:spcBef>
              <a:spcAft>
                <a:spcPts val="0"/>
              </a:spcAft>
              <a:buSzPts val="1800"/>
              <a:buChar char="●"/>
            </a:pPr>
            <a:r>
              <a:rPr lang="en"/>
              <a:t>First, we’ll linear and polynomial regression, and then ridge regression to determine the accuracy of the data.  Finally, we’ll observe correlations between the variables and determine what they could mean.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24" title="autism_linear_regression.png"/>
          <p:cNvPicPr preferRelativeResize="0"/>
          <p:nvPr/>
        </p:nvPicPr>
        <p:blipFill>
          <a:blip r:embed="rId3">
            <a:alphaModFix/>
          </a:blip>
          <a:stretch>
            <a:fillRect/>
          </a:stretch>
        </p:blipFill>
        <p:spPr>
          <a:xfrm>
            <a:off x="539750" y="152400"/>
            <a:ext cx="8064500" cy="483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5" title="autism_polynomial_regression.png"/>
          <p:cNvPicPr preferRelativeResize="0"/>
          <p:nvPr/>
        </p:nvPicPr>
        <p:blipFill>
          <a:blip r:embed="rId3">
            <a:alphaModFix/>
          </a:blip>
          <a:stretch>
            <a:fillRect/>
          </a:stretch>
        </p:blipFill>
        <p:spPr>
          <a:xfrm>
            <a:off x="539750" y="152400"/>
            <a:ext cx="8064500" cy="4838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6" title="autism_ridge_regression.png"/>
          <p:cNvPicPr preferRelativeResize="0"/>
          <p:nvPr/>
        </p:nvPicPr>
        <p:blipFill>
          <a:blip r:embed="rId3">
            <a:alphaModFix/>
          </a:blip>
          <a:stretch>
            <a:fillRect/>
          </a:stretch>
        </p:blipFill>
        <p:spPr>
          <a:xfrm>
            <a:off x="539750" y="152400"/>
            <a:ext cx="8064500" cy="483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7" title="autism_heatmap_rotated.png"/>
          <p:cNvPicPr preferRelativeResize="0"/>
          <p:nvPr/>
        </p:nvPicPr>
        <p:blipFill>
          <a:blip r:embed="rId3">
            <a:alphaModFix/>
          </a:blip>
          <a:stretch>
            <a:fillRect/>
          </a:stretch>
        </p:blipFill>
        <p:spPr>
          <a:xfrm>
            <a:off x="1547813" y="152400"/>
            <a:ext cx="6048375" cy="4838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8" title="autism_heatmap_rotated.png"/>
          <p:cNvPicPr preferRelativeResize="0"/>
          <p:nvPr/>
        </p:nvPicPr>
        <p:blipFill>
          <a:blip r:embed="rId3">
            <a:alphaModFix/>
          </a:blip>
          <a:stretch>
            <a:fillRect/>
          </a:stretch>
        </p:blipFill>
        <p:spPr>
          <a:xfrm>
            <a:off x="197573" y="578725"/>
            <a:ext cx="4982550" cy="3986050"/>
          </a:xfrm>
          <a:prstGeom prst="rect">
            <a:avLst/>
          </a:prstGeom>
          <a:noFill/>
          <a:ln>
            <a:noFill/>
          </a:ln>
        </p:spPr>
      </p:pic>
      <p:sp>
        <p:nvSpPr>
          <p:cNvPr id="142" name="Google Shape;142;p28"/>
          <p:cNvSpPr txBox="1"/>
          <p:nvPr>
            <p:ph idx="1" type="body"/>
          </p:nvPr>
        </p:nvSpPr>
        <p:spPr>
          <a:xfrm>
            <a:off x="5323100" y="578725"/>
            <a:ext cx="3640500" cy="398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Notable Correlations</a:t>
            </a:r>
            <a:endParaRPr sz="3600"/>
          </a:p>
          <a:p>
            <a:pPr indent="0" lvl="0" marL="0" rtl="0" algn="ctr">
              <a:spcBef>
                <a:spcPts val="1600"/>
              </a:spcBef>
              <a:spcAft>
                <a:spcPts val="0"/>
              </a:spcAft>
              <a:buNone/>
            </a:pPr>
            <a:r>
              <a:rPr lang="en" sz="2400"/>
              <a:t>Year vs Prevalence = 0.73</a:t>
            </a:r>
            <a:endParaRPr sz="2400"/>
          </a:p>
          <a:p>
            <a:pPr indent="0" lvl="0" marL="0" rtl="0" algn="ctr">
              <a:spcBef>
                <a:spcPts val="1600"/>
              </a:spcBef>
              <a:spcAft>
                <a:spcPts val="1600"/>
              </a:spcAft>
              <a:buNone/>
            </a:pPr>
            <a:r>
              <a:rPr lang="en" sz="2000"/>
              <a:t>As the years go by, the rate of autism diagnoses increases substantially.</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9" title="autism_heatmap_rotated.png"/>
          <p:cNvPicPr preferRelativeResize="0"/>
          <p:nvPr/>
        </p:nvPicPr>
        <p:blipFill>
          <a:blip r:embed="rId3">
            <a:alphaModFix/>
          </a:blip>
          <a:stretch>
            <a:fillRect/>
          </a:stretch>
        </p:blipFill>
        <p:spPr>
          <a:xfrm>
            <a:off x="197573" y="578725"/>
            <a:ext cx="4982550" cy="3986050"/>
          </a:xfrm>
          <a:prstGeom prst="rect">
            <a:avLst/>
          </a:prstGeom>
          <a:noFill/>
          <a:ln>
            <a:noFill/>
          </a:ln>
        </p:spPr>
      </p:pic>
      <p:sp>
        <p:nvSpPr>
          <p:cNvPr id="148" name="Google Shape;148;p29"/>
          <p:cNvSpPr txBox="1"/>
          <p:nvPr>
            <p:ph idx="1" type="body"/>
          </p:nvPr>
        </p:nvSpPr>
        <p:spPr>
          <a:xfrm>
            <a:off x="5323100" y="578725"/>
            <a:ext cx="3640500" cy="398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Notable Correlations</a:t>
            </a:r>
            <a:endParaRPr sz="3600"/>
          </a:p>
          <a:p>
            <a:pPr indent="0" lvl="0" marL="0" rtl="0" algn="ctr">
              <a:spcBef>
                <a:spcPts val="1600"/>
              </a:spcBef>
              <a:spcAft>
                <a:spcPts val="0"/>
              </a:spcAft>
              <a:buNone/>
            </a:pPr>
            <a:r>
              <a:rPr lang="en" sz="2400"/>
              <a:t>Year vs Lower/Upper Confidence Intervals = 0.76/0.66</a:t>
            </a:r>
            <a:endParaRPr sz="2400"/>
          </a:p>
          <a:p>
            <a:pPr indent="0" lvl="0" marL="0" rtl="0" algn="ctr">
              <a:spcBef>
                <a:spcPts val="1600"/>
              </a:spcBef>
              <a:spcAft>
                <a:spcPts val="1600"/>
              </a:spcAft>
              <a:buNone/>
            </a:pPr>
            <a:r>
              <a:rPr lang="en" sz="2000"/>
              <a:t>Not only will the diagnosis rates continue to rise over time, but the range of estimates will also continue to rise.</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30" title="autism_heatmap_rotated.png"/>
          <p:cNvPicPr preferRelativeResize="0"/>
          <p:nvPr/>
        </p:nvPicPr>
        <p:blipFill>
          <a:blip r:embed="rId3">
            <a:alphaModFix/>
          </a:blip>
          <a:stretch>
            <a:fillRect/>
          </a:stretch>
        </p:blipFill>
        <p:spPr>
          <a:xfrm>
            <a:off x="197573" y="578725"/>
            <a:ext cx="4982550" cy="3986050"/>
          </a:xfrm>
          <a:prstGeom prst="rect">
            <a:avLst/>
          </a:prstGeom>
          <a:noFill/>
          <a:ln>
            <a:noFill/>
          </a:ln>
        </p:spPr>
      </p:pic>
      <p:sp>
        <p:nvSpPr>
          <p:cNvPr id="154" name="Google Shape;154;p30"/>
          <p:cNvSpPr txBox="1"/>
          <p:nvPr>
            <p:ph idx="1" type="body"/>
          </p:nvPr>
        </p:nvSpPr>
        <p:spPr>
          <a:xfrm>
            <a:off x="5323100" y="578725"/>
            <a:ext cx="3640500" cy="398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Notable Correlations</a:t>
            </a:r>
            <a:endParaRPr sz="3600"/>
          </a:p>
          <a:p>
            <a:pPr indent="0" lvl="0" marL="0" rtl="0" algn="ctr">
              <a:spcBef>
                <a:spcPts val="1600"/>
              </a:spcBef>
              <a:spcAft>
                <a:spcPts val="0"/>
              </a:spcAft>
              <a:buNone/>
            </a:pPr>
            <a:r>
              <a:rPr lang="en" sz="2400"/>
              <a:t>Denominator vs Prevalence = -0.11</a:t>
            </a:r>
            <a:endParaRPr sz="2400"/>
          </a:p>
          <a:p>
            <a:pPr indent="0" lvl="0" marL="0" rtl="0" algn="ctr">
              <a:spcBef>
                <a:spcPts val="1600"/>
              </a:spcBef>
              <a:spcAft>
                <a:spcPts val="1600"/>
              </a:spcAft>
              <a:buNone/>
            </a:pPr>
            <a:r>
              <a:rPr lang="en" sz="2000"/>
              <a:t>The size of the sample groups (i.e. states) have little effect on the rates of autism diagnoses: the percentages stay consistent across each sample group.</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can we gather from this?</a:t>
            </a:r>
            <a:endParaRPr/>
          </a:p>
        </p:txBody>
      </p:sp>
      <p:sp>
        <p:nvSpPr>
          <p:cNvPr id="160" name="Google Shape;160;p31"/>
          <p:cNvSpPr txBox="1"/>
          <p:nvPr>
            <p:ph idx="1" type="body"/>
          </p:nvPr>
        </p:nvSpPr>
        <p:spPr>
          <a:xfrm>
            <a:off x="311700" y="1017725"/>
            <a:ext cx="8520600" cy="3948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Autism diagnoses will undeniably continue to increase as the years go by now that we have a better understanding and acceptance of the spectrum, meaning we need to better prepare our education system to </a:t>
            </a:r>
            <a:r>
              <a:rPr lang="en" sz="2000"/>
              <a:t>accommodate</a:t>
            </a:r>
            <a:r>
              <a:rPr lang="en" sz="2000"/>
              <a:t> </a:t>
            </a:r>
            <a:r>
              <a:rPr lang="en" sz="2000"/>
              <a:t>children with autism.</a:t>
            </a:r>
            <a:endParaRPr sz="2000"/>
          </a:p>
          <a:p>
            <a:pPr indent="-355600" lvl="0" marL="457200" rtl="0" algn="l">
              <a:spcBef>
                <a:spcPts val="0"/>
              </a:spcBef>
              <a:spcAft>
                <a:spcPts val="0"/>
              </a:spcAft>
              <a:buSzPts val="2000"/>
              <a:buChar char="-"/>
            </a:pPr>
            <a:r>
              <a:rPr lang="en" sz="2000"/>
              <a:t>It’s incredibly important to remember that each case of autism is different in one way or another, and because research in autism has stagnated in the past year, we are at the risk of lagging behind in assisting children with autism in the classroom.</a:t>
            </a:r>
            <a:endParaRPr sz="2000"/>
          </a:p>
          <a:p>
            <a:pPr indent="-355600" lvl="0" marL="457200" rtl="0" algn="l">
              <a:spcBef>
                <a:spcPts val="0"/>
              </a:spcBef>
              <a:spcAft>
                <a:spcPts val="0"/>
              </a:spcAft>
              <a:buSzPts val="2000"/>
              <a:buChar char="-"/>
            </a:pPr>
            <a:r>
              <a:rPr lang="en" sz="2000"/>
              <a:t>Autism is not a mystery with one solution that needs to be solved; it’s a spectrum of conditions that need to be understood and accommodated.</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