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oboto"/>
      <p:regular r:id="rId26"/>
      <p:bold r:id="rId27"/>
      <p:italic r:id="rId28"/>
      <p:boldItalic r:id="rId29"/>
    </p:embeddedFont>
    <p:embeddedFont>
      <p:font typeface="Average"/>
      <p:regular r:id="rId30"/>
    </p:embeddedFont>
    <p:embeddedFont>
      <p:font typeface="Oswald"/>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regular.fntdata"/><Relationship Id="rId25" Type="http://schemas.openxmlformats.org/officeDocument/2006/relationships/slide" Target="slides/slide20.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swald-regular.fntdata"/><Relationship Id="rId30" Type="http://schemas.openxmlformats.org/officeDocument/2006/relationships/font" Target="fonts/Average-regular.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Oswald-bold.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80f91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80f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c6f980f91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c6f980f9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e213a902fc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e213a902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c6f980f91_0_4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c6f980f91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25651fe19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e25651fe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213a902fc_0_4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e213a902fc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213a902fc_0_3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213a902f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25651fe19_0_3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e25651fe1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25651fe19_0_3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e25651fe19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e213a902fc_0_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e213a902f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e213a902fc_0_2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e213a902f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25651fe19_0_4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e25651fe19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e25651fe19_0_8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e25651fe19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25651fe19_0_5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e25651fe19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e25651fe19_0_8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e25651fe19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25651fe19_0_9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e25651fe19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e25651fe19_0_10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e25651fe19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e25651fe19_0_10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e25651fe19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25651fe19_0_1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e25651fe19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e25651fe19_0_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e25651fe1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1600"/>
              </a:spcBef>
              <a:spcAft>
                <a:spcPts val="160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hyperlink" Target="http://www.cdc.gov/nchs/products/databriefs/db484.htm" TargetMode="External"/><Relationship Id="rId4" Type="http://schemas.openxmlformats.org/officeDocument/2006/relationships/hyperlink" Target="https://www.google.com/search?q=https://doi.org/10.1200/jgo.19.00031" TargetMode="External"/><Relationship Id="rId11" Type="http://schemas.openxmlformats.org/officeDocument/2006/relationships/hyperlink" Target="https://www.onclive.com/view/federal-funding-cuts-hit-cancer-research-despite-public-support" TargetMode="External"/><Relationship Id="rId10" Type="http://schemas.openxmlformats.org/officeDocument/2006/relationships/hyperlink" Target="https://ascopubs.org/doi/abs/10.1200/GO-25-00471" TargetMode="External"/><Relationship Id="rId12" Type="http://schemas.openxmlformats.org/officeDocument/2006/relationships/hyperlink" Target="https://www.onclive.com/view/federal-funding-cuts-hit-cancer-research-despite-public-support" TargetMode="External"/><Relationship Id="rId9" Type="http://schemas.openxmlformats.org/officeDocument/2006/relationships/hyperlink" Target="https://ascopubs.org/doi/abs/10.1200/GO-25-00471" TargetMode="External"/><Relationship Id="rId5" Type="http://schemas.openxmlformats.org/officeDocument/2006/relationships/hyperlink" Target="https://www.google.com/search?q=https://doi.org/10.1200/jgo.19.00031" TargetMode="External"/><Relationship Id="rId6" Type="http://schemas.openxmlformats.org/officeDocument/2006/relationships/hyperlink" Target="https://www.google.com/search?q=https://doi.org/10.4102/hsag.v25i0.1382" TargetMode="External"/><Relationship Id="rId7" Type="http://schemas.openxmlformats.org/officeDocument/2006/relationships/hyperlink" Target="https://www.google.com/search?q=https://doi.org/10.4102/hsag.v25i0.1382" TargetMode="External"/><Relationship Id="rId8" Type="http://schemas.openxmlformats.org/officeDocument/2006/relationships/hyperlink" Target="https://ascopubs.org/doi/abs/10.1200/GO-25-0047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Childhood Cancer Mortality Rates</a:t>
            </a:r>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Josh Place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Background</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None/>
            </a:pPr>
            <a:r>
              <a:rPr lang="en"/>
              <a:t>I am a childhood cancer survivor; when I was eight months old, I was diagnosed with retinoblastoma, or cancer of the eye, and though I have been cancer free ever since my year-long treatment, not everyone is so lucky.</a:t>
            </a:r>
            <a:endParaRPr/>
          </a:p>
          <a:p>
            <a:pPr indent="457200" lvl="0" marL="0" rtl="0" algn="l">
              <a:spcBef>
                <a:spcPts val="1600"/>
              </a:spcBef>
              <a:spcAft>
                <a:spcPts val="0"/>
              </a:spcAft>
              <a:buNone/>
            </a:pPr>
            <a:r>
              <a:rPr lang="en"/>
              <a:t>Which begs the question…</a:t>
            </a:r>
            <a:endParaRPr/>
          </a:p>
          <a:p>
            <a:pPr indent="0" lvl="0" marL="0" rtl="0" algn="l">
              <a:spcBef>
                <a:spcPts val="1600"/>
              </a:spcBef>
              <a:spcAft>
                <a:spcPts val="1600"/>
              </a:spcAft>
              <a:buNone/>
            </a:pPr>
            <a:r>
              <a:rPr lang="en"/>
              <a:t>	“When taking into consideration how much cancer treatment has evolved and improved in past fifty years, how can we determine the rate at which childhood cancer mortality rates have changed across various countries from the 1980s to today?”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Dataset</a:t>
            </a:r>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this research, I have obtained a dataset listing the rates of reported childhood cancer mortalities in ~120 different countries across the </a:t>
            </a:r>
            <a:r>
              <a:rPr lang="en"/>
              <a:t>globe</a:t>
            </a:r>
            <a:r>
              <a:rPr lang="en"/>
              <a:t>.  This dataset dates back all the way to 1980 and takes into consideration three types of cancers:</a:t>
            </a:r>
            <a:endParaRPr/>
          </a:p>
          <a:p>
            <a:pPr indent="-342900" lvl="0" marL="457200" rtl="0" algn="l">
              <a:spcBef>
                <a:spcPts val="1600"/>
              </a:spcBef>
              <a:spcAft>
                <a:spcPts val="0"/>
              </a:spcAft>
              <a:buSzPts val="1800"/>
              <a:buChar char="-"/>
            </a:pPr>
            <a:r>
              <a:rPr lang="en"/>
              <a:t>Leukemia</a:t>
            </a:r>
            <a:endParaRPr/>
          </a:p>
          <a:p>
            <a:pPr indent="-342900" lvl="0" marL="457200" rtl="0" algn="l">
              <a:spcBef>
                <a:spcPts val="0"/>
              </a:spcBef>
              <a:spcAft>
                <a:spcPts val="0"/>
              </a:spcAft>
              <a:buSzPts val="1800"/>
              <a:buChar char="-"/>
            </a:pPr>
            <a:r>
              <a:rPr lang="en"/>
              <a:t>Brain and nervous system cancers</a:t>
            </a:r>
            <a:endParaRPr/>
          </a:p>
          <a:p>
            <a:pPr indent="-342900" lvl="0" marL="457200" rtl="0" algn="l">
              <a:spcBef>
                <a:spcPts val="0"/>
              </a:spcBef>
              <a:spcAft>
                <a:spcPts val="0"/>
              </a:spcAft>
              <a:buSzPts val="1800"/>
              <a:buChar char="-"/>
            </a:pPr>
            <a:r>
              <a:rPr lang="en"/>
              <a:t>Lymphoma multiple myeloma (blood cancer)</a:t>
            </a:r>
            <a:endParaRPr/>
          </a:p>
          <a:p>
            <a:pPr indent="0" lvl="0" marL="0" rtl="0" algn="l">
              <a:spcBef>
                <a:spcPts val="1600"/>
              </a:spcBef>
              <a:spcAft>
                <a:spcPts val="1600"/>
              </a:spcAft>
              <a:buNone/>
            </a:pPr>
            <a:r>
              <a:rPr lang="en"/>
              <a:t>Before beginning my analysis, I made sure to remove any rows that were missing crucial data points, as well as split the dataset into smaller datasets for each country.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263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Initial Analysis</a:t>
            </a:r>
            <a:endParaRPr/>
          </a:p>
        </p:txBody>
      </p:sp>
      <p:pic>
        <p:nvPicPr>
          <p:cNvPr id="78" name="Google Shape;78;p16" title="Global Average Death Rates by Cancer Type (1980 - 2023).png"/>
          <p:cNvPicPr preferRelativeResize="0"/>
          <p:nvPr/>
        </p:nvPicPr>
        <p:blipFill rotWithShape="1">
          <a:blip r:embed="rId3">
            <a:alphaModFix/>
          </a:blip>
          <a:srcRect b="0" l="0" r="0" t="0"/>
          <a:stretch/>
        </p:blipFill>
        <p:spPr>
          <a:xfrm>
            <a:off x="1524738" y="965750"/>
            <a:ext cx="6094515" cy="3820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263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Important Considerations</a:t>
            </a:r>
            <a:endParaRPr/>
          </a:p>
        </p:txBody>
      </p:sp>
      <p:pic>
        <p:nvPicPr>
          <p:cNvPr id="84" name="Google Shape;84;p17" title="Global Average Death Rates by Cancer Type (1980 - 2023).png"/>
          <p:cNvPicPr preferRelativeResize="0"/>
          <p:nvPr/>
        </p:nvPicPr>
        <p:blipFill rotWithShape="1">
          <a:blip r:embed="rId3">
            <a:alphaModFix/>
          </a:blip>
          <a:srcRect b="0" l="0" r="0" t="0"/>
          <a:stretch/>
        </p:blipFill>
        <p:spPr>
          <a:xfrm>
            <a:off x="311698" y="1241475"/>
            <a:ext cx="5028977" cy="3152949"/>
          </a:xfrm>
          <a:prstGeom prst="rect">
            <a:avLst/>
          </a:prstGeom>
          <a:noFill/>
          <a:ln>
            <a:noFill/>
          </a:ln>
        </p:spPr>
      </p:pic>
      <p:sp>
        <p:nvSpPr>
          <p:cNvPr id="85" name="Google Shape;85;p17"/>
          <p:cNvSpPr txBox="1"/>
          <p:nvPr>
            <p:ph idx="1" type="body"/>
          </p:nvPr>
        </p:nvSpPr>
        <p:spPr>
          <a:xfrm>
            <a:off x="5374375" y="1152475"/>
            <a:ext cx="3457800" cy="37323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This dataset moreso covers reported cases of cancers thanks to improved research, not necessarily any sudden outbreaks.</a:t>
            </a:r>
            <a:endParaRPr sz="1500"/>
          </a:p>
          <a:p>
            <a:pPr indent="-323850" lvl="0" marL="457200" rtl="0" algn="l">
              <a:spcBef>
                <a:spcPts val="0"/>
              </a:spcBef>
              <a:spcAft>
                <a:spcPts val="0"/>
              </a:spcAft>
              <a:buSzPts val="1500"/>
              <a:buChar char="-"/>
            </a:pPr>
            <a:r>
              <a:rPr lang="en" sz="1500"/>
              <a:t>According to the CDC, while global leukemia death rates in children have decreased by 47% from 2001 to 2021, global brain cancer death rates in children have only decreased by 11%, and by 2021, it was 23% higher than leukemia death rates.</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263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 clustering</a:t>
            </a:r>
            <a:endParaRPr/>
          </a:p>
        </p:txBody>
      </p:sp>
      <p:pic>
        <p:nvPicPr>
          <p:cNvPr id="91" name="Google Shape;91;p18" title="cluster_profiles.png"/>
          <p:cNvPicPr preferRelativeResize="0"/>
          <p:nvPr/>
        </p:nvPicPr>
        <p:blipFill>
          <a:blip r:embed="rId3">
            <a:alphaModFix/>
          </a:blip>
          <a:stretch>
            <a:fillRect/>
          </a:stretch>
        </p:blipFill>
        <p:spPr>
          <a:xfrm>
            <a:off x="545575" y="893025"/>
            <a:ext cx="8052838" cy="400282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263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K-means clustering</a:t>
            </a:r>
            <a:endParaRPr/>
          </a:p>
        </p:txBody>
      </p:sp>
      <p:pic>
        <p:nvPicPr>
          <p:cNvPr id="97" name="Google Shape;97;p19" title="country_clusters_pca.png"/>
          <p:cNvPicPr preferRelativeResize="0"/>
          <p:nvPr/>
        </p:nvPicPr>
        <p:blipFill>
          <a:blip r:embed="rId3">
            <a:alphaModFix/>
          </a:blip>
          <a:stretch>
            <a:fillRect/>
          </a:stretch>
        </p:blipFill>
        <p:spPr>
          <a:xfrm>
            <a:off x="1713625" y="879175"/>
            <a:ext cx="5716726" cy="40028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263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Lasso Regression</a:t>
            </a:r>
            <a:endParaRPr/>
          </a:p>
        </p:txBody>
      </p:sp>
      <p:pic>
        <p:nvPicPr>
          <p:cNvPr id="103" name="Google Shape;103;p20" title="Lasso Regression - Predicting Childhood Cancer Mortality.png"/>
          <p:cNvPicPr preferRelativeResize="0"/>
          <p:nvPr/>
        </p:nvPicPr>
        <p:blipFill rotWithShape="1">
          <a:blip r:embed="rId3">
            <a:alphaModFix/>
          </a:blip>
          <a:srcRect b="0" l="348" r="348" t="0"/>
          <a:stretch/>
        </p:blipFill>
        <p:spPr>
          <a:xfrm>
            <a:off x="1713625" y="879175"/>
            <a:ext cx="5716726" cy="40028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263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Correlations</a:t>
            </a:r>
            <a:endParaRPr/>
          </a:p>
        </p:txBody>
      </p:sp>
      <p:pic>
        <p:nvPicPr>
          <p:cNvPr id="109" name="Google Shape;109;p21" title="Correlation Heatmap - Global Childhood Cancer Variables.png"/>
          <p:cNvPicPr preferRelativeResize="0"/>
          <p:nvPr/>
        </p:nvPicPr>
        <p:blipFill>
          <a:blip r:embed="rId3">
            <a:alphaModFix/>
          </a:blip>
          <a:stretch>
            <a:fillRect/>
          </a:stretch>
        </p:blipFill>
        <p:spPr>
          <a:xfrm>
            <a:off x="1721588" y="912775"/>
            <a:ext cx="5700823" cy="40028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does this vary per country?</a:t>
            </a:r>
            <a:endParaRPr/>
          </a:p>
        </p:txBody>
      </p:sp>
      <p:sp>
        <p:nvSpPr>
          <p:cNvPr id="115" name="Google Shape;115;p22"/>
          <p:cNvSpPr txBox="1"/>
          <p:nvPr>
            <p:ph idx="1" type="body"/>
          </p:nvPr>
        </p:nvSpPr>
        <p:spPr>
          <a:xfrm>
            <a:off x="268400" y="11351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Obviously, how each country is able to handle childhood cancer varies greatly, so we’ll use the same methods to </a:t>
            </a:r>
            <a:r>
              <a:rPr lang="en" sz="2800"/>
              <a:t>compare</a:t>
            </a:r>
            <a:r>
              <a:rPr lang="en" sz="2800"/>
              <a:t> the death rates across different countries.</a:t>
            </a:r>
            <a:endParaRPr sz="2800"/>
          </a:p>
          <a:p>
            <a:pPr indent="0" lvl="0" marL="0" rtl="0" algn="l">
              <a:spcBef>
                <a:spcPts val="1600"/>
              </a:spcBef>
              <a:spcAft>
                <a:spcPts val="1600"/>
              </a:spcAft>
              <a:buNone/>
            </a:pPr>
            <a:r>
              <a:rPr lang="en" sz="2800"/>
              <a:t>We’ll start with countries with higher reported mortality rates.</a:t>
            </a:r>
            <a:endParaRPr sz="2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High Mortality Rates (all cancers combined)</a:t>
            </a:r>
            <a:endParaRPr/>
          </a:p>
        </p:txBody>
      </p:sp>
      <p:pic>
        <p:nvPicPr>
          <p:cNvPr id="121" name="Google Shape;121;p23" title="high_mortality.png"/>
          <p:cNvPicPr preferRelativeResize="0"/>
          <p:nvPr/>
        </p:nvPicPr>
        <p:blipFill>
          <a:blip r:embed="rId3">
            <a:alphaModFix/>
          </a:blip>
          <a:stretch>
            <a:fillRect/>
          </a:stretch>
        </p:blipFill>
        <p:spPr>
          <a:xfrm>
            <a:off x="2661513" y="1084675"/>
            <a:ext cx="3820974" cy="38209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263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Venezuela Analysis</a:t>
            </a:r>
            <a:endParaRPr/>
          </a:p>
        </p:txBody>
      </p:sp>
      <p:pic>
        <p:nvPicPr>
          <p:cNvPr id="127" name="Google Shape;127;p24" title="Childhood Cancer Death Rates in Venezuela (1980 - 2023).png"/>
          <p:cNvPicPr preferRelativeResize="0"/>
          <p:nvPr/>
        </p:nvPicPr>
        <p:blipFill rotWithShape="1">
          <a:blip r:embed="rId3">
            <a:alphaModFix/>
          </a:blip>
          <a:srcRect b="0" l="0" r="0" t="0"/>
          <a:stretch/>
        </p:blipFill>
        <p:spPr>
          <a:xfrm>
            <a:off x="311698" y="1241475"/>
            <a:ext cx="5028977" cy="3152949"/>
          </a:xfrm>
          <a:prstGeom prst="rect">
            <a:avLst/>
          </a:prstGeom>
          <a:noFill/>
          <a:ln>
            <a:noFill/>
          </a:ln>
        </p:spPr>
      </p:pic>
      <p:sp>
        <p:nvSpPr>
          <p:cNvPr id="128" name="Google Shape;128;p24"/>
          <p:cNvSpPr txBox="1"/>
          <p:nvPr>
            <p:ph idx="1" type="body"/>
          </p:nvPr>
        </p:nvSpPr>
        <p:spPr>
          <a:xfrm>
            <a:off x="5374375" y="1152475"/>
            <a:ext cx="3457800" cy="3732300"/>
          </a:xfrm>
          <a:prstGeom prst="rect">
            <a:avLst/>
          </a:prstGeom>
        </p:spPr>
        <p:txBody>
          <a:bodyPr anchorCtr="0" anchor="ctr" bIns="91425" lIns="91425" spcFirstLastPara="1" rIns="91425" wrap="square" tIns="91425">
            <a:noAutofit/>
          </a:bodyPr>
          <a:lstStyle/>
          <a:p>
            <a:pPr indent="-349250" lvl="0" marL="457200" rtl="0" algn="l">
              <a:spcBef>
                <a:spcPts val="0"/>
              </a:spcBef>
              <a:spcAft>
                <a:spcPts val="0"/>
              </a:spcAft>
              <a:buSzPts val="1900"/>
              <a:buChar char="-"/>
            </a:pPr>
            <a:r>
              <a:rPr lang="en" sz="1900"/>
              <a:t>A</a:t>
            </a:r>
            <a:r>
              <a:rPr lang="en" sz="1900"/>
              <a:t>ccording to research gathered by the ASCO (American Society of Clinical Ocology), t</a:t>
            </a:r>
            <a:r>
              <a:rPr lang="en" sz="1900"/>
              <a:t>he reason for the sharp increase in mortalities after 2010 is primarily due to a critical shortage of cancer resources at the time, </a:t>
            </a:r>
            <a:endParaRPr sz="19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263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Ecuador Analysis</a:t>
            </a:r>
            <a:endParaRPr/>
          </a:p>
        </p:txBody>
      </p:sp>
      <p:pic>
        <p:nvPicPr>
          <p:cNvPr id="134" name="Google Shape;134;p25" title="Childhood Cancer Death Rates in Ecuador (1980 - 2023).png"/>
          <p:cNvPicPr preferRelativeResize="0"/>
          <p:nvPr/>
        </p:nvPicPr>
        <p:blipFill rotWithShape="1">
          <a:blip r:embed="rId3">
            <a:alphaModFix/>
          </a:blip>
          <a:srcRect b="0" l="0" r="0" t="0"/>
          <a:stretch/>
        </p:blipFill>
        <p:spPr>
          <a:xfrm>
            <a:off x="311698" y="1241475"/>
            <a:ext cx="5028977" cy="3152949"/>
          </a:xfrm>
          <a:prstGeom prst="rect">
            <a:avLst/>
          </a:prstGeom>
          <a:noFill/>
          <a:ln>
            <a:noFill/>
          </a:ln>
        </p:spPr>
      </p:pic>
      <p:sp>
        <p:nvSpPr>
          <p:cNvPr id="135" name="Google Shape;135;p25"/>
          <p:cNvSpPr txBox="1"/>
          <p:nvPr>
            <p:ph idx="1" type="body"/>
          </p:nvPr>
        </p:nvSpPr>
        <p:spPr>
          <a:xfrm>
            <a:off x="5374375" y="1152475"/>
            <a:ext cx="3457800" cy="3732300"/>
          </a:xfrm>
          <a:prstGeom prst="rect">
            <a:avLst/>
          </a:prstGeom>
        </p:spPr>
        <p:txBody>
          <a:bodyPr anchorCtr="0" anchor="ctr" bIns="91425" lIns="91425" spcFirstLastPara="1" rIns="91425" wrap="square" tIns="91425">
            <a:noAutofit/>
          </a:bodyPr>
          <a:lstStyle/>
          <a:p>
            <a:pPr indent="-349250" lvl="0" marL="457200" rtl="0" algn="l">
              <a:spcBef>
                <a:spcPts val="0"/>
              </a:spcBef>
              <a:spcAft>
                <a:spcPts val="0"/>
              </a:spcAft>
              <a:buSzPts val="1900"/>
              <a:buChar char="-"/>
            </a:pPr>
            <a:r>
              <a:rPr lang="en" sz="1900"/>
              <a:t>Ecuador’s constantly shifting mortality rates are also theorized to be caused by significant geographic disparities in </a:t>
            </a:r>
            <a:r>
              <a:rPr lang="en" sz="1900"/>
              <a:t>access to diagnoses.</a:t>
            </a:r>
            <a:endParaRPr sz="19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263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South Africa Analysis</a:t>
            </a:r>
            <a:endParaRPr/>
          </a:p>
        </p:txBody>
      </p:sp>
      <p:pic>
        <p:nvPicPr>
          <p:cNvPr id="141" name="Google Shape;141;p26" title="Childhood Cancer Death Rates in South Africa (1980 - 2023).png"/>
          <p:cNvPicPr preferRelativeResize="0"/>
          <p:nvPr/>
        </p:nvPicPr>
        <p:blipFill rotWithShape="1">
          <a:blip r:embed="rId3">
            <a:alphaModFix/>
          </a:blip>
          <a:srcRect b="0" l="0" r="0" t="0"/>
          <a:stretch/>
        </p:blipFill>
        <p:spPr>
          <a:xfrm>
            <a:off x="311698" y="1241475"/>
            <a:ext cx="5028977" cy="3152949"/>
          </a:xfrm>
          <a:prstGeom prst="rect">
            <a:avLst/>
          </a:prstGeom>
          <a:noFill/>
          <a:ln>
            <a:noFill/>
          </a:ln>
        </p:spPr>
      </p:pic>
      <p:sp>
        <p:nvSpPr>
          <p:cNvPr id="142" name="Google Shape;142;p26"/>
          <p:cNvSpPr txBox="1"/>
          <p:nvPr>
            <p:ph idx="1" type="body"/>
          </p:nvPr>
        </p:nvSpPr>
        <p:spPr>
          <a:xfrm>
            <a:off x="5374375" y="1152475"/>
            <a:ext cx="3457800" cy="3732300"/>
          </a:xfrm>
          <a:prstGeom prst="rect">
            <a:avLst/>
          </a:prstGeom>
        </p:spPr>
        <p:txBody>
          <a:bodyPr anchorCtr="0" anchor="ctr" bIns="91425" lIns="91425" spcFirstLastPara="1" rIns="91425" wrap="square" tIns="91425">
            <a:noAutofit/>
          </a:bodyPr>
          <a:lstStyle/>
          <a:p>
            <a:pPr indent="-349250" lvl="0" marL="457200" rtl="0" algn="l">
              <a:spcBef>
                <a:spcPts val="0"/>
              </a:spcBef>
              <a:spcAft>
                <a:spcPts val="0"/>
              </a:spcAft>
              <a:buSzPts val="1900"/>
              <a:buChar char="-"/>
            </a:pPr>
            <a:r>
              <a:rPr lang="en" sz="1900"/>
              <a:t>South Africa is different, however, because the large increases in mortalities is largely due to improving research and reports.</a:t>
            </a:r>
            <a:endParaRPr sz="19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Middleground Mortality Rates (all cancers combined)</a:t>
            </a:r>
            <a:endParaRPr/>
          </a:p>
        </p:txBody>
      </p:sp>
      <p:pic>
        <p:nvPicPr>
          <p:cNvPr id="148" name="Google Shape;148;p27" title="mid_mortality.png"/>
          <p:cNvPicPr preferRelativeResize="0"/>
          <p:nvPr/>
        </p:nvPicPr>
        <p:blipFill rotWithShape="1">
          <a:blip r:embed="rId3">
            <a:alphaModFix/>
          </a:blip>
          <a:srcRect b="0" l="0" r="0" t="0"/>
          <a:stretch/>
        </p:blipFill>
        <p:spPr>
          <a:xfrm>
            <a:off x="2661513" y="1084675"/>
            <a:ext cx="3820974" cy="38209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8"/>
          <p:cNvSpPr txBox="1"/>
          <p:nvPr>
            <p:ph type="title"/>
          </p:nvPr>
        </p:nvSpPr>
        <p:spPr>
          <a:xfrm>
            <a:off x="311700" y="263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Armenia Analysis</a:t>
            </a:r>
            <a:endParaRPr/>
          </a:p>
        </p:txBody>
      </p:sp>
      <p:pic>
        <p:nvPicPr>
          <p:cNvPr id="154" name="Google Shape;154;p28" title="Childhood Cancer Death Rates in Armenia (1980 - 2023).png"/>
          <p:cNvPicPr preferRelativeResize="0"/>
          <p:nvPr/>
        </p:nvPicPr>
        <p:blipFill rotWithShape="1">
          <a:blip r:embed="rId3">
            <a:alphaModFix/>
          </a:blip>
          <a:srcRect b="0" l="0" r="0" t="0"/>
          <a:stretch/>
        </p:blipFill>
        <p:spPr>
          <a:xfrm>
            <a:off x="311698" y="1241475"/>
            <a:ext cx="5028977" cy="3152949"/>
          </a:xfrm>
          <a:prstGeom prst="rect">
            <a:avLst/>
          </a:prstGeom>
          <a:noFill/>
          <a:ln>
            <a:noFill/>
          </a:ln>
        </p:spPr>
      </p:pic>
      <p:sp>
        <p:nvSpPr>
          <p:cNvPr id="155" name="Google Shape;155;p28"/>
          <p:cNvSpPr txBox="1"/>
          <p:nvPr>
            <p:ph idx="1" type="body"/>
          </p:nvPr>
        </p:nvSpPr>
        <p:spPr>
          <a:xfrm>
            <a:off x="5374375" y="1152475"/>
            <a:ext cx="3457800" cy="3732300"/>
          </a:xfrm>
          <a:prstGeom prst="rect">
            <a:avLst/>
          </a:prstGeom>
        </p:spPr>
        <p:txBody>
          <a:bodyPr anchorCtr="0" anchor="ctr" bIns="91425" lIns="91425" spcFirstLastPara="1" rIns="91425" wrap="square" tIns="91425">
            <a:noAutofit/>
          </a:bodyPr>
          <a:lstStyle/>
          <a:p>
            <a:pPr indent="-349250" lvl="0" marL="457200" rtl="0" algn="l">
              <a:spcBef>
                <a:spcPts val="0"/>
              </a:spcBef>
              <a:spcAft>
                <a:spcPts val="0"/>
              </a:spcAft>
              <a:buSzPts val="1900"/>
              <a:buChar char="-"/>
            </a:pPr>
            <a:r>
              <a:rPr lang="en" sz="1900"/>
              <a:t>The childhood cancer mortality rates in smaller countries like Armenia have decreased greatly thanks to the Global Initiative for Childhood Cancer and partnerships with St. Jude’s Children’s Hospital, providing </a:t>
            </a:r>
            <a:r>
              <a:rPr lang="en" sz="1900"/>
              <a:t>better</a:t>
            </a:r>
            <a:r>
              <a:rPr lang="en" sz="1900"/>
              <a:t> access to diagnoses and treatments.</a:t>
            </a:r>
            <a:endParaRPr sz="19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Low Mortality Rates (all cancers combined)</a:t>
            </a:r>
            <a:endParaRPr/>
          </a:p>
        </p:txBody>
      </p:sp>
      <p:pic>
        <p:nvPicPr>
          <p:cNvPr id="161" name="Google Shape;161;p29" title="low_mortality.png"/>
          <p:cNvPicPr preferRelativeResize="0"/>
          <p:nvPr/>
        </p:nvPicPr>
        <p:blipFill rotWithShape="1">
          <a:blip r:embed="rId3">
            <a:alphaModFix/>
          </a:blip>
          <a:srcRect b="0" l="0" r="0" t="0"/>
          <a:stretch/>
        </p:blipFill>
        <p:spPr>
          <a:xfrm>
            <a:off x="2661513" y="1084675"/>
            <a:ext cx="3820974" cy="38209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0"/>
          <p:cNvSpPr txBox="1"/>
          <p:nvPr>
            <p:ph type="title"/>
          </p:nvPr>
        </p:nvSpPr>
        <p:spPr>
          <a:xfrm>
            <a:off x="311700" y="2631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United States Analysis</a:t>
            </a:r>
            <a:endParaRPr/>
          </a:p>
        </p:txBody>
      </p:sp>
      <p:pic>
        <p:nvPicPr>
          <p:cNvPr id="167" name="Google Shape;167;p30" title="Childhood Cancer Death Rates in United States (1980 - 2023).png"/>
          <p:cNvPicPr preferRelativeResize="0"/>
          <p:nvPr/>
        </p:nvPicPr>
        <p:blipFill rotWithShape="1">
          <a:blip r:embed="rId3">
            <a:alphaModFix/>
          </a:blip>
          <a:srcRect b="0" l="387" r="397" t="0"/>
          <a:stretch/>
        </p:blipFill>
        <p:spPr>
          <a:xfrm>
            <a:off x="311698" y="1241475"/>
            <a:ext cx="5028977" cy="3152949"/>
          </a:xfrm>
          <a:prstGeom prst="rect">
            <a:avLst/>
          </a:prstGeom>
          <a:noFill/>
          <a:ln>
            <a:noFill/>
          </a:ln>
        </p:spPr>
      </p:pic>
      <p:sp>
        <p:nvSpPr>
          <p:cNvPr id="168" name="Google Shape;168;p30"/>
          <p:cNvSpPr txBox="1"/>
          <p:nvPr>
            <p:ph idx="1" type="body"/>
          </p:nvPr>
        </p:nvSpPr>
        <p:spPr>
          <a:xfrm>
            <a:off x="5374375" y="1152475"/>
            <a:ext cx="3457800" cy="3732300"/>
          </a:xfrm>
          <a:prstGeom prst="rect">
            <a:avLst/>
          </a:prstGeom>
        </p:spPr>
        <p:txBody>
          <a:bodyPr anchorCtr="0" anchor="ctr" bIns="91425" lIns="91425" spcFirstLastPara="1" rIns="91425" wrap="square" tIns="91425">
            <a:noAutofit/>
          </a:bodyPr>
          <a:lstStyle/>
          <a:p>
            <a:pPr indent="-349250" lvl="0" marL="457200" rtl="0" algn="l">
              <a:spcBef>
                <a:spcPts val="0"/>
              </a:spcBef>
              <a:spcAft>
                <a:spcPts val="0"/>
              </a:spcAft>
              <a:buSzPts val="1900"/>
              <a:buChar char="-"/>
            </a:pPr>
            <a:r>
              <a:rPr lang="en" sz="1900"/>
              <a:t>While treatment and diagnoses have improved dramatically in the United States, we unfortunately run the risk of increases in deaths due to recent budgets to cancer research.</a:t>
            </a:r>
            <a:endParaRPr sz="19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Conclusions and Further Research</a:t>
            </a:r>
            <a:endParaRPr/>
          </a:p>
        </p:txBody>
      </p:sp>
      <p:sp>
        <p:nvSpPr>
          <p:cNvPr id="174" name="Google Shape;174;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These visuals provide a lot of insight as to how certain events, collaborations, and disruptions can have an effect on the rates of childhood cancer mortalities.</a:t>
            </a:r>
            <a:endParaRPr/>
          </a:p>
          <a:p>
            <a:pPr indent="-342900" lvl="0" marL="457200" rtl="0" algn="l">
              <a:spcBef>
                <a:spcPts val="0"/>
              </a:spcBef>
              <a:spcAft>
                <a:spcPts val="0"/>
              </a:spcAft>
              <a:buSzPts val="1800"/>
              <a:buChar char="-"/>
            </a:pPr>
            <a:r>
              <a:rPr lang="en"/>
              <a:t>Once again, it’s important to acknowledge that this data was of reported deaths.</a:t>
            </a:r>
            <a:endParaRPr/>
          </a:p>
          <a:p>
            <a:pPr indent="-342900" lvl="0" marL="457200" rtl="0" algn="l">
              <a:spcBef>
                <a:spcPts val="0"/>
              </a:spcBef>
              <a:spcAft>
                <a:spcPts val="0"/>
              </a:spcAft>
              <a:buSzPts val="1800"/>
              <a:buChar char="-"/>
            </a:pPr>
            <a:r>
              <a:rPr lang="en"/>
              <a:t>If more research is to be conducted on this topic, the rates of childhood cancer diagnoses and successful treatments should also be taken into consideration, as well as doing research on the history of individual countries.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Sources</a:t>
            </a:r>
            <a:endParaRPr/>
          </a:p>
        </p:txBody>
      </p:sp>
      <p:sp>
        <p:nvSpPr>
          <p:cNvPr id="180" name="Google Shape;180;p32"/>
          <p:cNvSpPr txBox="1"/>
          <p:nvPr>
            <p:ph idx="1" type="body"/>
          </p:nvPr>
        </p:nvSpPr>
        <p:spPr>
          <a:xfrm>
            <a:off x="268400" y="1135150"/>
            <a:ext cx="8520600" cy="392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oboto"/>
                <a:ea typeface="Roboto"/>
                <a:cs typeface="Roboto"/>
                <a:sym typeface="Roboto"/>
              </a:rPr>
              <a:t>Sally C., Curtin, and Anderson Robert N. “Products - Data Briefs - Number 484 - November 2023.” </a:t>
            </a:r>
            <a:r>
              <a:rPr i="1" lang="en" sz="1200">
                <a:solidFill>
                  <a:schemeClr val="dk1"/>
                </a:solidFill>
                <a:latin typeface="Roboto"/>
                <a:ea typeface="Roboto"/>
                <a:cs typeface="Roboto"/>
                <a:sym typeface="Roboto"/>
              </a:rPr>
              <a:t>Www.cdc.gov</a:t>
            </a:r>
            <a:r>
              <a:rPr lang="en" sz="1200">
                <a:solidFill>
                  <a:schemeClr val="dk1"/>
                </a:solidFill>
                <a:latin typeface="Roboto"/>
                <a:ea typeface="Roboto"/>
                <a:cs typeface="Roboto"/>
                <a:sym typeface="Roboto"/>
              </a:rPr>
              <a:t>, 17 Nov. 2023, </a:t>
            </a:r>
            <a:r>
              <a:rPr lang="en" sz="1200" u="sng">
                <a:solidFill>
                  <a:schemeClr val="dk1"/>
                </a:solidFill>
                <a:latin typeface="Roboto"/>
                <a:ea typeface="Roboto"/>
                <a:cs typeface="Roboto"/>
                <a:sym typeface="Roboto"/>
                <a:hlinkClick r:id="rId3">
                  <a:extLst>
                    <a:ext uri="{A12FA001-AC4F-418D-AE19-62706E023703}">
                      <ahyp:hlinkClr val="tx"/>
                    </a:ext>
                  </a:extLst>
                </a:hlinkClick>
              </a:rPr>
              <a:t>www.cdc.gov/nchs/products/databriefs/db484.htm</a:t>
            </a:r>
            <a:r>
              <a:rPr lang="en" sz="1200">
                <a:solidFill>
                  <a:schemeClr val="dk1"/>
                </a:solidFill>
                <a:latin typeface="Roboto"/>
                <a:ea typeface="Roboto"/>
                <a:cs typeface="Roboto"/>
                <a:sym typeface="Roboto"/>
              </a:rPr>
              <a:t>.</a:t>
            </a:r>
            <a:endParaRPr sz="1200">
              <a:solidFill>
                <a:schemeClr val="dk1"/>
              </a:solidFill>
              <a:latin typeface="Arial"/>
              <a:ea typeface="Arial"/>
              <a:cs typeface="Arial"/>
              <a:sym typeface="Arial"/>
            </a:endParaRPr>
          </a:p>
          <a:p>
            <a:pPr indent="0" lvl="0" marL="0" rtl="0" algn="l">
              <a:spcBef>
                <a:spcPts val="1600"/>
              </a:spcBef>
              <a:spcAft>
                <a:spcPts val="0"/>
              </a:spcAft>
              <a:buNone/>
            </a:pPr>
            <a:r>
              <a:rPr lang="en" sz="1100">
                <a:solidFill>
                  <a:schemeClr val="dk1"/>
                </a:solidFill>
                <a:latin typeface="Arial"/>
                <a:ea typeface="Arial"/>
                <a:cs typeface="Arial"/>
                <a:sym typeface="Arial"/>
              </a:rPr>
              <a:t>Duma, N., &amp; Duque Duran, L. (2019). The state of cancer care in Venezuela. </a:t>
            </a:r>
            <a:r>
              <a:rPr i="1" lang="en" sz="1100">
                <a:solidFill>
                  <a:schemeClr val="dk1"/>
                </a:solidFill>
                <a:latin typeface="Arial"/>
                <a:ea typeface="Arial"/>
                <a:cs typeface="Arial"/>
                <a:sym typeface="Arial"/>
              </a:rPr>
              <a:t>Journal of Global Oncology</a:t>
            </a:r>
            <a:r>
              <a:rPr lang="en" sz="1100">
                <a:solidFill>
                  <a:schemeClr val="dk1"/>
                </a:solidFill>
                <a:latin typeface="Arial"/>
                <a:ea typeface="Arial"/>
                <a:cs typeface="Arial"/>
                <a:sym typeface="Arial"/>
              </a:rPr>
              <a:t>, 1-2.</a:t>
            </a:r>
            <a:r>
              <a:rPr lang="en" sz="1100">
                <a:solidFill>
                  <a:schemeClr val="dk1"/>
                </a:solidFill>
                <a:uFill>
                  <a:noFill/>
                </a:uFill>
                <a:latin typeface="Arial"/>
                <a:ea typeface="Arial"/>
                <a:cs typeface="Arial"/>
                <a:sym typeface="Arial"/>
                <a:hlinkClick r:id="rId4">
                  <a:extLst>
                    <a:ext uri="{A12FA001-AC4F-418D-AE19-62706E023703}">
                      <ahyp:hlinkClr val="tx"/>
                    </a:ext>
                  </a:extLst>
                </a:hlinkClick>
              </a:rPr>
              <a:t> </a:t>
            </a:r>
            <a:r>
              <a:rPr lang="en" sz="1100" u="sng">
                <a:solidFill>
                  <a:schemeClr val="dk1"/>
                </a:solidFill>
                <a:latin typeface="Arial"/>
                <a:ea typeface="Arial"/>
                <a:cs typeface="Arial"/>
                <a:sym typeface="Arial"/>
                <a:hlinkClick r:id="rId5">
                  <a:extLst>
                    <a:ext uri="{A12FA001-AC4F-418D-AE19-62706E023703}">
                      <ahyp:hlinkClr val="tx"/>
                    </a:ext>
                  </a:extLst>
                </a:hlinkClick>
              </a:rPr>
              <a:t>https://doi.org/10.1200/jgo.19.00031</a:t>
            </a:r>
            <a:r>
              <a:rPr lang="en" sz="1100">
                <a:solidFill>
                  <a:schemeClr val="dk1"/>
                </a:solidFill>
                <a:latin typeface="Arial"/>
                <a:ea typeface="Arial"/>
                <a:cs typeface="Arial"/>
                <a:sym typeface="Arial"/>
              </a:rPr>
              <a:t> </a:t>
            </a:r>
            <a:endParaRPr sz="1100">
              <a:solidFill>
                <a:schemeClr val="dk1"/>
              </a:solidFill>
              <a:latin typeface="Arial"/>
              <a:ea typeface="Arial"/>
              <a:cs typeface="Arial"/>
              <a:sym typeface="Arial"/>
            </a:endParaRPr>
          </a:p>
          <a:p>
            <a:pPr indent="0" lvl="0" marL="0" rtl="0" algn="l">
              <a:spcBef>
                <a:spcPts val="1600"/>
              </a:spcBef>
              <a:spcAft>
                <a:spcPts val="0"/>
              </a:spcAft>
              <a:buNone/>
            </a:pPr>
            <a:r>
              <a:rPr lang="en" sz="1100">
                <a:solidFill>
                  <a:schemeClr val="dk1"/>
                </a:solidFill>
                <a:latin typeface="Arial"/>
                <a:ea typeface="Arial"/>
                <a:cs typeface="Arial"/>
                <a:sym typeface="Arial"/>
              </a:rPr>
              <a:t>Otoo, M. N., Lubbe, M. S., Steyn, H., &amp; Burger, J. R. (2020). Childhood cancers in a section of the South African private health sector: Analysis of medicines claims data. </a:t>
            </a:r>
            <a:r>
              <a:rPr i="1" lang="en" sz="1100">
                <a:solidFill>
                  <a:schemeClr val="dk1"/>
                </a:solidFill>
                <a:latin typeface="Arial"/>
                <a:ea typeface="Arial"/>
                <a:cs typeface="Arial"/>
                <a:sym typeface="Arial"/>
              </a:rPr>
              <a:t>Health SA Gesondheid</a:t>
            </a:r>
            <a:r>
              <a:rPr lang="en" sz="1100">
                <a:solidFill>
                  <a:schemeClr val="dk1"/>
                </a:solidFill>
                <a:latin typeface="Arial"/>
                <a:ea typeface="Arial"/>
                <a:cs typeface="Arial"/>
                <a:sym typeface="Arial"/>
              </a:rPr>
              <a:t>, 25.</a:t>
            </a:r>
            <a:r>
              <a:rPr lang="en" sz="1100">
                <a:solidFill>
                  <a:schemeClr val="dk1"/>
                </a:solidFill>
                <a:uFill>
                  <a:noFill/>
                </a:uFill>
                <a:latin typeface="Arial"/>
                <a:ea typeface="Arial"/>
                <a:cs typeface="Arial"/>
                <a:sym typeface="Arial"/>
                <a:hlinkClick r:id="rId6">
                  <a:extLst>
                    <a:ext uri="{A12FA001-AC4F-418D-AE19-62706E023703}">
                      <ahyp:hlinkClr val="tx"/>
                    </a:ext>
                  </a:extLst>
                </a:hlinkClick>
              </a:rPr>
              <a:t> </a:t>
            </a:r>
            <a:r>
              <a:rPr lang="en" sz="1100" u="sng">
                <a:solidFill>
                  <a:schemeClr val="dk1"/>
                </a:solidFill>
                <a:latin typeface="Arial"/>
                <a:ea typeface="Arial"/>
                <a:cs typeface="Arial"/>
                <a:sym typeface="Arial"/>
                <a:hlinkClick r:id="rId7">
                  <a:extLst>
                    <a:ext uri="{A12FA001-AC4F-418D-AE19-62706E023703}">
                      <ahyp:hlinkClr val="tx"/>
                    </a:ext>
                  </a:extLst>
                </a:hlinkClick>
              </a:rPr>
              <a:t>https://doi.org/10.4102/hsag.v25i0.1382</a:t>
            </a:r>
            <a:r>
              <a:rPr lang="en" sz="1100">
                <a:solidFill>
                  <a:schemeClr val="dk1"/>
                </a:solidFill>
                <a:latin typeface="Arial"/>
                <a:ea typeface="Arial"/>
                <a:cs typeface="Arial"/>
                <a:sym typeface="Arial"/>
              </a:rPr>
              <a:t> </a:t>
            </a:r>
            <a:endParaRPr sz="1100">
              <a:solidFill>
                <a:schemeClr val="dk1"/>
              </a:solidFill>
              <a:latin typeface="Arial"/>
              <a:ea typeface="Arial"/>
              <a:cs typeface="Arial"/>
              <a:sym typeface="Arial"/>
            </a:endParaRPr>
          </a:p>
          <a:p>
            <a:pPr indent="0" lvl="0" marL="0" rtl="0" algn="l">
              <a:spcBef>
                <a:spcPts val="1600"/>
              </a:spcBef>
              <a:spcAft>
                <a:spcPts val="0"/>
              </a:spcAft>
              <a:buNone/>
            </a:pPr>
            <a:r>
              <a:rPr lang="en" sz="1100">
                <a:solidFill>
                  <a:schemeClr val="dk1"/>
                </a:solidFill>
                <a:latin typeface="Arial"/>
                <a:ea typeface="Arial"/>
                <a:cs typeface="Arial"/>
                <a:sym typeface="Arial"/>
              </a:rPr>
              <a:t>IARC &amp; St Jude Children's Research Hospital. (2026). Building local capacity for childhood cancer registration: Real-world examples. </a:t>
            </a:r>
            <a:r>
              <a:rPr i="1" lang="en" sz="1100">
                <a:solidFill>
                  <a:schemeClr val="dk1"/>
                </a:solidFill>
                <a:latin typeface="Arial"/>
                <a:ea typeface="Arial"/>
                <a:cs typeface="Arial"/>
                <a:sym typeface="Arial"/>
              </a:rPr>
              <a:t>JCO Global Oncology</a:t>
            </a:r>
            <a:r>
              <a:rPr lang="en" sz="1100">
                <a:solidFill>
                  <a:schemeClr val="dk1"/>
                </a:solidFill>
                <a:latin typeface="Arial"/>
                <a:ea typeface="Arial"/>
                <a:cs typeface="Arial"/>
                <a:sym typeface="Arial"/>
              </a:rPr>
              <a:t>. </a:t>
            </a:r>
            <a:r>
              <a:rPr lang="en" sz="1100" u="sng">
                <a:solidFill>
                  <a:schemeClr val="dk1"/>
                </a:solidFill>
                <a:latin typeface="Arial"/>
                <a:ea typeface="Arial"/>
                <a:cs typeface="Arial"/>
                <a:sym typeface="Arial"/>
                <a:hlinkClick r:id="rId8">
                  <a:extLst>
                    <a:ext uri="{A12FA001-AC4F-418D-AE19-62706E023703}">
                      <ahyp:hlinkClr val="tx"/>
                    </a:ext>
                  </a:extLst>
                </a:hlinkClick>
              </a:rPr>
              <a:t>https://ascopubs.org/doi/abs/10.1200/GO-25-00471</a:t>
            </a:r>
            <a:r>
              <a:rPr lang="en" sz="1100">
                <a:solidFill>
                  <a:schemeClr val="dk1"/>
                </a:solidFill>
                <a:latin typeface="Arial"/>
                <a:ea typeface="Arial"/>
                <a:cs typeface="Arial"/>
                <a:sym typeface="Arial"/>
              </a:rPr>
              <a:t> </a:t>
            </a:r>
            <a:endParaRPr sz="1100">
              <a:solidFill>
                <a:schemeClr val="dk1"/>
              </a:solidFill>
              <a:latin typeface="Arial"/>
              <a:ea typeface="Arial"/>
              <a:cs typeface="Arial"/>
              <a:sym typeface="Arial"/>
            </a:endParaRPr>
          </a:p>
          <a:p>
            <a:pPr indent="0" lvl="0" marL="0" rtl="0" algn="l">
              <a:spcBef>
                <a:spcPts val="1600"/>
              </a:spcBef>
              <a:spcAft>
                <a:spcPts val="0"/>
              </a:spcAft>
              <a:buNone/>
            </a:pPr>
            <a:r>
              <a:rPr lang="en" sz="1100">
                <a:solidFill>
                  <a:schemeClr val="dk1"/>
                </a:solidFill>
                <a:latin typeface="Arial"/>
                <a:ea typeface="Arial"/>
                <a:cs typeface="Arial"/>
                <a:sym typeface="Arial"/>
              </a:rPr>
              <a:t>IARC &amp; St Jude Children's Research Hospital. (2026). Building local capacity for childhood cancer registration: Real-world examples. </a:t>
            </a:r>
            <a:r>
              <a:rPr i="1" lang="en" sz="1100">
                <a:solidFill>
                  <a:schemeClr val="dk1"/>
                </a:solidFill>
                <a:latin typeface="Arial"/>
                <a:ea typeface="Arial"/>
                <a:cs typeface="Arial"/>
                <a:sym typeface="Arial"/>
              </a:rPr>
              <a:t>JCO Global Oncology</a:t>
            </a:r>
            <a:r>
              <a:rPr lang="en" sz="1100">
                <a:solidFill>
                  <a:schemeClr val="dk1"/>
                </a:solidFill>
                <a:latin typeface="Arial"/>
                <a:ea typeface="Arial"/>
                <a:cs typeface="Arial"/>
                <a:sym typeface="Arial"/>
              </a:rPr>
              <a:t>. </a:t>
            </a:r>
            <a:r>
              <a:rPr b="1" lang="en" sz="1100">
                <a:solidFill>
                  <a:schemeClr val="dk1"/>
                </a:solidFill>
                <a:latin typeface="Arial"/>
                <a:ea typeface="Arial"/>
                <a:cs typeface="Arial"/>
                <a:sym typeface="Arial"/>
              </a:rPr>
              <a:t>Link:</a:t>
            </a:r>
            <a:r>
              <a:rPr lang="en" sz="1100">
                <a:solidFill>
                  <a:schemeClr val="dk1"/>
                </a:solidFill>
                <a:uFill>
                  <a:noFill/>
                </a:uFill>
                <a:latin typeface="Arial"/>
                <a:ea typeface="Arial"/>
                <a:cs typeface="Arial"/>
                <a:sym typeface="Arial"/>
                <a:hlinkClick r:id="rId9">
                  <a:extLst>
                    <a:ext uri="{A12FA001-AC4F-418D-AE19-62706E023703}">
                      <ahyp:hlinkClr val="tx"/>
                    </a:ext>
                  </a:extLst>
                </a:hlinkClick>
              </a:rPr>
              <a:t> </a:t>
            </a:r>
            <a:r>
              <a:rPr lang="en" sz="1100" u="sng">
                <a:solidFill>
                  <a:schemeClr val="dk1"/>
                </a:solidFill>
                <a:latin typeface="Arial"/>
                <a:ea typeface="Arial"/>
                <a:cs typeface="Arial"/>
                <a:sym typeface="Arial"/>
                <a:hlinkClick r:id="rId10">
                  <a:extLst>
                    <a:ext uri="{A12FA001-AC4F-418D-AE19-62706E023703}">
                      <ahyp:hlinkClr val="tx"/>
                    </a:ext>
                  </a:extLst>
                </a:hlinkClick>
              </a:rPr>
              <a:t>https://ascopubs.org/doi/abs/10.1200/GO-25-00471</a:t>
            </a:r>
            <a:r>
              <a:rPr lang="en" sz="1100">
                <a:solidFill>
                  <a:schemeClr val="dk1"/>
                </a:solidFill>
                <a:latin typeface="Arial"/>
                <a:ea typeface="Arial"/>
                <a:cs typeface="Arial"/>
                <a:sym typeface="Arial"/>
              </a:rPr>
              <a:t> </a:t>
            </a:r>
            <a:endParaRPr sz="1100">
              <a:solidFill>
                <a:schemeClr val="dk1"/>
              </a:solidFill>
              <a:latin typeface="Arial"/>
              <a:ea typeface="Arial"/>
              <a:cs typeface="Arial"/>
              <a:sym typeface="Arial"/>
            </a:endParaRPr>
          </a:p>
          <a:p>
            <a:pPr indent="0" lvl="0" marL="0" rtl="0" algn="l">
              <a:spcBef>
                <a:spcPts val="1600"/>
              </a:spcBef>
              <a:spcAft>
                <a:spcPts val="0"/>
              </a:spcAft>
              <a:buNone/>
            </a:pPr>
            <a:r>
              <a:rPr lang="en" sz="1100">
                <a:solidFill>
                  <a:schemeClr val="dk1"/>
                </a:solidFill>
                <a:latin typeface="Arial"/>
                <a:ea typeface="Arial"/>
                <a:cs typeface="Arial"/>
                <a:sym typeface="Arial"/>
              </a:rPr>
              <a:t>OncLive. (2013, August 16). </a:t>
            </a:r>
            <a:r>
              <a:rPr i="1" lang="en" sz="1100">
                <a:solidFill>
                  <a:schemeClr val="dk1"/>
                </a:solidFill>
                <a:latin typeface="Arial"/>
                <a:ea typeface="Arial"/>
                <a:cs typeface="Arial"/>
                <a:sym typeface="Arial"/>
              </a:rPr>
              <a:t>Federal funding cuts hit cancer research despite public support</a:t>
            </a:r>
            <a:r>
              <a:rPr lang="en" sz="1100">
                <a:solidFill>
                  <a:schemeClr val="dk1"/>
                </a:solidFill>
                <a:latin typeface="Arial"/>
                <a:ea typeface="Arial"/>
                <a:cs typeface="Arial"/>
                <a:sym typeface="Arial"/>
              </a:rPr>
              <a:t>.</a:t>
            </a:r>
            <a:r>
              <a:rPr lang="en" sz="1100">
                <a:solidFill>
                  <a:schemeClr val="dk1"/>
                </a:solidFill>
                <a:uFill>
                  <a:noFill/>
                </a:uFill>
                <a:latin typeface="Arial"/>
                <a:ea typeface="Arial"/>
                <a:cs typeface="Arial"/>
                <a:sym typeface="Arial"/>
                <a:hlinkClick r:id="rId11">
                  <a:extLst>
                    <a:ext uri="{A12FA001-AC4F-418D-AE19-62706E023703}">
                      <ahyp:hlinkClr val="tx"/>
                    </a:ext>
                  </a:extLst>
                </a:hlinkClick>
              </a:rPr>
              <a:t> </a:t>
            </a:r>
            <a:r>
              <a:rPr lang="en" sz="1100" u="sng">
                <a:solidFill>
                  <a:schemeClr val="dk1"/>
                </a:solidFill>
                <a:latin typeface="Arial"/>
                <a:ea typeface="Arial"/>
                <a:cs typeface="Arial"/>
                <a:sym typeface="Arial"/>
                <a:hlinkClick r:id="rId12">
                  <a:extLst>
                    <a:ext uri="{A12FA001-AC4F-418D-AE19-62706E023703}">
                      <ahyp:hlinkClr val="tx"/>
                    </a:ext>
                  </a:extLst>
                </a:hlinkClick>
              </a:rPr>
              <a:t>https://www.onclive.com/view/federal-funding-cuts-hit-cancer-research-despite-public-support</a:t>
            </a:r>
            <a:r>
              <a:rPr lang="en" sz="1100">
                <a:solidFill>
                  <a:schemeClr val="dk1"/>
                </a:solidFill>
                <a:latin typeface="Arial"/>
                <a:ea typeface="Arial"/>
                <a:cs typeface="Arial"/>
                <a:sym typeface="Arial"/>
              </a:rPr>
              <a:t> </a:t>
            </a:r>
            <a:endParaRPr sz="1100">
              <a:solidFill>
                <a:schemeClr val="dk1"/>
              </a:solidFill>
              <a:latin typeface="Arial"/>
              <a:ea typeface="Arial"/>
              <a:cs typeface="Arial"/>
              <a:sym typeface="Arial"/>
            </a:endParaRPr>
          </a:p>
          <a:p>
            <a:pPr indent="0" lvl="0" marL="0" rtl="0" algn="l">
              <a:spcBef>
                <a:spcPts val="1600"/>
              </a:spcBef>
              <a:spcAft>
                <a:spcPts val="1600"/>
              </a:spcAft>
              <a:buNone/>
            </a:pPr>
            <a:r>
              <a:t/>
            </a:r>
            <a:endParaRPr sz="110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